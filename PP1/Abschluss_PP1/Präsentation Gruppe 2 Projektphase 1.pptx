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45" r:id="rId2"/>
    <p:sldId id="346" r:id="rId3"/>
    <p:sldId id="349" r:id="rId4"/>
    <p:sldId id="350" r:id="rId5"/>
    <p:sldId id="351" r:id="rId6"/>
    <p:sldId id="354" r:id="rId7"/>
    <p:sldId id="353" r:id="rId8"/>
    <p:sldId id="357" r:id="rId9"/>
    <p:sldId id="356" r:id="rId10"/>
    <p:sldId id="352" r:id="rId11"/>
    <p:sldId id="35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5E8"/>
    <a:srgbClr val="9C1700"/>
    <a:srgbClr val="FFE6B2"/>
    <a:srgbClr val="477F99"/>
    <a:srgbClr val="6DA7BE"/>
    <a:srgbClr val="FAD192"/>
    <a:srgbClr val="FD8441"/>
    <a:srgbClr val="E48631"/>
    <a:srgbClr val="011324"/>
    <a:srgbClr val="E941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 autoAdjust="0"/>
    <p:restoredTop sz="96357" autoAdjust="0"/>
  </p:normalViewPr>
  <p:slideViewPr>
    <p:cSldViewPr snapToGrid="0" showGuides="1">
      <p:cViewPr varScale="1">
        <p:scale>
          <a:sx n="81" d="100"/>
          <a:sy n="81" d="100"/>
        </p:scale>
        <p:origin x="446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04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E834AB-4A87-AF18-C8CA-A7E764D0E4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DEB6CE-6460-9F62-49B4-5469BF3355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EE442-DAB1-4866-835A-E7570069FEA6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2DF5AB-EFE5-2636-8469-64F6CD1184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DBFC5-1126-0508-C1FA-446BF9389F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840FE-8B94-45AA-ADDA-D20F098E8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8300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9C7D2D-6CB4-44D2-B016-EF93E75575A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14E7CB-87E4-4199-8150-09E7DA4D2D5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19486-0569-4030-85B3-2DA7CACD0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BF5E8"/>
                </a:solidFill>
              </a:defRPr>
            </a:lvl1pPr>
          </a:lstStyle>
          <a:p>
            <a:fld id="{A08A89E4-D00E-4618-BE4D-03035A2F693C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BBDAD-9190-4926-B3E0-29B3C571C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BF5E8"/>
                </a:solidFill>
              </a:defRPr>
            </a:lvl1pPr>
          </a:lstStyle>
          <a:p>
            <a:fld id="{5F294920-2F4F-4D88-AD0A-053AE5A679D0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3901E25F-8781-5505-CFAA-15DF02671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2019"/>
            <a:ext cx="10515600" cy="868502"/>
          </a:xfrm>
        </p:spPr>
        <p:txBody>
          <a:bodyPr/>
          <a:lstStyle>
            <a:lvl1pPr algn="l">
              <a:defRPr b="1">
                <a:solidFill>
                  <a:srgbClr val="FBF5E8"/>
                </a:solidFill>
              </a:defRPr>
            </a:lvl1pPr>
          </a:lstStyle>
          <a:p>
            <a:pPr algn="l"/>
            <a:endParaRPr lang="en-US" dirty="0">
              <a:solidFill>
                <a:srgbClr val="011324"/>
              </a:solidFill>
            </a:endParaRPr>
          </a:p>
        </p:txBody>
      </p:sp>
      <p:sp>
        <p:nvSpPr>
          <p:cNvPr id="8" name="Subtitle 8">
            <a:extLst>
              <a:ext uri="{FF2B5EF4-FFF2-40B4-BE49-F238E27FC236}">
                <a16:creationId xmlns:a16="http://schemas.microsoft.com/office/drawing/2014/main" id="{7260C261-53D6-E321-957B-423781724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180521"/>
            <a:ext cx="10515600" cy="97783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FBF5E8"/>
                </a:solidFill>
              </a:defRPr>
            </a:lvl1pPr>
          </a:lstStyle>
          <a:p>
            <a:pPr algn="l"/>
            <a:endParaRPr lang="en-US" dirty="0">
              <a:solidFill>
                <a:srgbClr val="0113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80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3C5C-19EA-4900-8526-9D5B2BE99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>
                <a:solidFill>
                  <a:srgbClr val="FBF5E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40E2F-3EC3-02DE-4675-241D18F5F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FBF5E8"/>
                </a:solidFill>
              </a:defRPr>
            </a:lvl1pPr>
            <a:lvl2pPr>
              <a:defRPr>
                <a:solidFill>
                  <a:srgbClr val="FBF5E8"/>
                </a:solidFill>
              </a:defRPr>
            </a:lvl2pPr>
            <a:lvl3pPr>
              <a:defRPr>
                <a:solidFill>
                  <a:srgbClr val="FBF5E8"/>
                </a:solidFill>
              </a:defRPr>
            </a:lvl3pPr>
            <a:lvl4pPr>
              <a:defRPr>
                <a:solidFill>
                  <a:srgbClr val="FBF5E8"/>
                </a:solidFill>
              </a:defRPr>
            </a:lvl4pPr>
            <a:lvl5pPr>
              <a:defRPr>
                <a:solidFill>
                  <a:srgbClr val="FBF5E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5BFDF-EA52-F42C-48A0-F2292EF26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BF5E8"/>
                </a:solidFill>
              </a:defRPr>
            </a:lvl1pPr>
          </a:lstStyle>
          <a:p>
            <a:fld id="{CB7FCE13-2E5A-43E1-ADBE-407260D5B4E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4F541-3CA3-9F48-E217-D4BF2C101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BF5E8"/>
                </a:solidFill>
              </a:defRPr>
            </a:lvl1pPr>
          </a:lstStyle>
          <a:p>
            <a:fld id="{D3A63EAC-D7D9-4CD6-8749-C9704CC6CD2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4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BD7AB8-1902-4BDB-85A7-1AC36F66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678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54F62-D565-44EB-A1C9-F20AAF2CE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5222"/>
            <a:ext cx="10515600" cy="5091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887B9-4418-4219-A59A-48F21437A5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BF5E8"/>
                </a:solidFill>
              </a:defRPr>
            </a:lvl1pPr>
          </a:lstStyle>
          <a:p>
            <a:fld id="{A1ACEE5C-337C-40CA-959B-6F3EBBDE2995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1677-D9C3-432D-B3A6-896F827F5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BF5E8"/>
                </a:solidFill>
              </a:defRPr>
            </a:lvl1pPr>
          </a:lstStyle>
          <a:p>
            <a:fld id="{5F294920-2F4F-4D88-AD0A-053AE5A679D0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2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BF5E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BF5E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BF5E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BF5E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BF5E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BF5E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35FB9E-B0E8-ADCD-14A2-AF5B255C3D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tabLst>
                <a:tab pos="2117725" algn="l"/>
              </a:tabLst>
            </a:pPr>
            <a:r>
              <a:rPr lang="en-US" dirty="0"/>
              <a:t>Camp2Code – </a:t>
            </a:r>
            <a:r>
              <a:rPr lang="en-US" dirty="0" err="1"/>
              <a:t>Projektphase</a:t>
            </a:r>
            <a:r>
              <a:rPr lang="en-US" dirty="0"/>
              <a:t> 1 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45CAD5C-3084-C89B-20E8-C54D6B091F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Projektteam</a:t>
            </a:r>
            <a:r>
              <a:rPr lang="en-US" dirty="0"/>
              <a:t> 2</a:t>
            </a:r>
          </a:p>
          <a:p>
            <a:r>
              <a:rPr lang="en-US" dirty="0"/>
              <a:t>“Let’s start the race”</a:t>
            </a:r>
          </a:p>
        </p:txBody>
      </p:sp>
    </p:spTree>
    <p:extLst>
      <p:ext uri="{BB962C8B-B14F-4D97-AF65-F5344CB8AC3E}">
        <p14:creationId xmlns:p14="http://schemas.microsoft.com/office/powerpoint/2010/main" val="623544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506DA-B242-D2A7-E5DF-16D2E1BB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 des Projekts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1616B-6E64-BE68-7EC6-375CB76F2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2931"/>
            <a:ext cx="10515600" cy="5091867"/>
          </a:xfrm>
        </p:spPr>
        <p:txBody>
          <a:bodyPr/>
          <a:lstStyle/>
          <a:p>
            <a:r>
              <a:rPr lang="de-DE" dirty="0"/>
              <a:t>Ein Fahrzeug soll auf Basis von Sensoren (Ultraschall, Infrarot) selbstständig fahren können.</a:t>
            </a:r>
          </a:p>
          <a:p>
            <a:r>
              <a:rPr lang="de-DE" dirty="0"/>
              <a:t>Das Fahrzeug soll verschiedene Fahrmodi ausführen können: geradeaus fahren, Linien folgen, Kurven fahren usw.</a:t>
            </a:r>
          </a:p>
          <a:p>
            <a:r>
              <a:rPr lang="de-DE" dirty="0"/>
              <a:t>Messdaten und Sensorwerte sollen protokolliert werden, um das Fahrverhalten zu analysieren und zu verbessern.</a:t>
            </a:r>
          </a:p>
          <a:p>
            <a:r>
              <a:rPr lang="de-DE" dirty="0"/>
              <a:t>Über verschiedene Entwicklungsstufen sollen die aufgezeichneten Daten mit Hilfe einer in </a:t>
            </a:r>
            <a:r>
              <a:rPr lang="de-DE" dirty="0" err="1"/>
              <a:t>Plotly</a:t>
            </a:r>
            <a:r>
              <a:rPr lang="de-DE" dirty="0"/>
              <a:t> Dash entwickelten App visualisiert werden.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401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CB061-1D49-4C74-BEBA-3B86562F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b="1" dirty="0"/>
              <a:t>Struktur des Programms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C7CD06-4726-4047-B8B0-9CEF26E55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de-DE" altLang="de-DE" sz="2400" dirty="0"/>
              <a:t>Module / Bibliotheken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800" dirty="0"/>
              <a:t>time, </a:t>
            </a:r>
            <a:r>
              <a:rPr lang="de-DE" altLang="de-DE" sz="1800" dirty="0" err="1"/>
              <a:t>json</a:t>
            </a:r>
            <a:r>
              <a:rPr lang="de-DE" altLang="de-DE" sz="1800" dirty="0"/>
              <a:t>, </a:t>
            </a:r>
            <a:r>
              <a:rPr lang="de-DE" altLang="de-DE" sz="1800" dirty="0" err="1"/>
              <a:t>os</a:t>
            </a:r>
            <a:r>
              <a:rPr lang="de-DE" altLang="de-DE" sz="1800" dirty="0"/>
              <a:t>, </a:t>
            </a:r>
            <a:r>
              <a:rPr lang="de-DE" altLang="de-DE" sz="1800" dirty="0" err="1"/>
              <a:t>sys</a:t>
            </a:r>
            <a:r>
              <a:rPr lang="de-DE" altLang="de-DE" sz="1800" dirty="0"/>
              <a:t>, </a:t>
            </a:r>
            <a:r>
              <a:rPr lang="de-DE" altLang="de-DE" sz="1800" dirty="0" err="1"/>
              <a:t>csv</a:t>
            </a:r>
            <a:r>
              <a:rPr lang="de-DE" altLang="de-DE" sz="1800" dirty="0"/>
              <a:t>, </a:t>
            </a:r>
            <a:r>
              <a:rPr lang="de-DE" altLang="de-DE" sz="1800" dirty="0" err="1"/>
              <a:t>pandas</a:t>
            </a:r>
            <a:r>
              <a:rPr lang="de-DE" altLang="de-DE" sz="1800" dirty="0"/>
              <a:t>, </a:t>
            </a:r>
            <a:r>
              <a:rPr lang="de-DE" altLang="de-DE" sz="1800" dirty="0" err="1"/>
              <a:t>numpy</a:t>
            </a:r>
            <a:r>
              <a:rPr lang="de-DE" altLang="de-DE" sz="1800" dirty="0"/>
              <a:t> → Datenverarbeitung, </a:t>
            </a:r>
            <a:r>
              <a:rPr lang="de-DE" altLang="de-DE" sz="1800" dirty="0" err="1"/>
              <a:t>Logging</a:t>
            </a:r>
            <a:endParaRPr lang="de-DE" altLang="de-DE" sz="1800" dirty="0"/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800" dirty="0" err="1"/>
              <a:t>RPi.GPIO</a:t>
            </a:r>
            <a:r>
              <a:rPr lang="de-DE" altLang="de-DE" sz="1800" dirty="0"/>
              <a:t>, </a:t>
            </a:r>
            <a:r>
              <a:rPr lang="de-DE" altLang="de-DE" sz="1800" dirty="0" err="1"/>
              <a:t>smbus</a:t>
            </a:r>
            <a:r>
              <a:rPr lang="de-DE" altLang="de-DE" sz="1800" dirty="0"/>
              <a:t> → Hardwaresteuerung (Raspberry Pi)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800" dirty="0" err="1"/>
              <a:t>basisklassen</a:t>
            </a:r>
            <a:r>
              <a:rPr lang="de-DE" altLang="de-DE" sz="1800" dirty="0"/>
              <a:t> → Fahrzeug-Komponenten: </a:t>
            </a:r>
            <a:r>
              <a:rPr lang="de-DE" altLang="de-DE" sz="1800" dirty="0" err="1"/>
              <a:t>BackWheels</a:t>
            </a:r>
            <a:r>
              <a:rPr lang="de-DE" altLang="de-DE" sz="1800" dirty="0"/>
              <a:t>, </a:t>
            </a:r>
            <a:r>
              <a:rPr lang="de-DE" altLang="de-DE" sz="1800" dirty="0" err="1"/>
              <a:t>FrontWheels</a:t>
            </a:r>
            <a:r>
              <a:rPr lang="de-DE" altLang="de-DE" sz="1800" dirty="0"/>
              <a:t>, </a:t>
            </a:r>
            <a:r>
              <a:rPr lang="de-DE" altLang="de-DE" sz="1800" dirty="0" err="1"/>
              <a:t>Ultrasonic</a:t>
            </a:r>
            <a:r>
              <a:rPr lang="de-DE" altLang="de-DE" sz="1800" dirty="0"/>
              <a:t>, Infrared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1D103D1-D0FC-4E16-A731-E8CE4CB0E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635" y="2600066"/>
            <a:ext cx="6392006" cy="334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98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CB061-1D49-4C74-BEBA-3B86562F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b="1" dirty="0"/>
              <a:t>Struktur des Programms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C7CD06-4726-4047-B8B0-9CEF26E55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de-DE" altLang="de-DE" sz="2400" dirty="0"/>
              <a:t>Klassen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800" dirty="0" err="1"/>
              <a:t>data_storage</a:t>
            </a:r>
            <a:r>
              <a:rPr lang="de-DE" altLang="de-DE" sz="1800" dirty="0"/>
              <a:t> → Speichert Messdaten in einem Dictionary und schreibt sie in CSV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800" dirty="0" err="1"/>
              <a:t>BaseCar</a:t>
            </a:r>
            <a:r>
              <a:rPr lang="de-DE" altLang="de-DE" sz="1800" dirty="0"/>
              <a:t> → Grundklasse für Fahrzeug: Steuerung der Räder, Geschwindigkeit, Lenkwinkel, Richtung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800" dirty="0" err="1"/>
              <a:t>SonicCar</a:t>
            </a:r>
            <a:r>
              <a:rPr lang="de-DE" altLang="de-DE" sz="1800" dirty="0"/>
              <a:t> → Erweiterung von </a:t>
            </a:r>
            <a:r>
              <a:rPr lang="de-DE" altLang="de-DE" sz="1800" dirty="0" err="1"/>
              <a:t>BaseCar</a:t>
            </a:r>
            <a:r>
              <a:rPr lang="de-DE" altLang="de-DE" sz="1800" dirty="0"/>
              <a:t> um Ultraschallsensoren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800" dirty="0" err="1"/>
              <a:t>SensorCar</a:t>
            </a:r>
            <a:r>
              <a:rPr lang="de-DE" altLang="de-DE" sz="1800" dirty="0"/>
              <a:t> → Erweiterung von </a:t>
            </a:r>
            <a:r>
              <a:rPr lang="de-DE" altLang="de-DE" sz="1800" dirty="0" err="1"/>
              <a:t>SonicCar</a:t>
            </a:r>
            <a:r>
              <a:rPr lang="de-DE" altLang="de-DE" sz="1800" dirty="0"/>
              <a:t> um Infrarotsensoren, digitale/analoge Linienerkennung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de-DE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DBF29FA-E28C-486A-9D94-6467263F23E7}"/>
              </a:ext>
            </a:extLst>
          </p:cNvPr>
          <p:cNvGrpSpPr/>
          <p:nvPr/>
        </p:nvGrpSpPr>
        <p:grpSpPr>
          <a:xfrm>
            <a:off x="982304" y="2768582"/>
            <a:ext cx="10515603" cy="3666691"/>
            <a:chOff x="199879" y="2627181"/>
            <a:chExt cx="11792243" cy="4094294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BC150307-3E8C-43D5-A898-822E700CF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879" y="2627183"/>
              <a:ext cx="6038362" cy="2387618"/>
            </a:xfrm>
            <a:prstGeom prst="rect">
              <a:avLst/>
            </a:prstGeom>
          </p:spPr>
        </p:pic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DB87088F-4217-4FB2-A93D-5CE7257F9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880" y="5035854"/>
              <a:ext cx="6038362" cy="1685621"/>
            </a:xfrm>
            <a:prstGeom prst="rect">
              <a:avLst/>
            </a:prstGeom>
          </p:spPr>
        </p:pic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74D70FB9-25D9-4119-AB06-B1F31D216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60153" y="2627181"/>
              <a:ext cx="5731968" cy="2187117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FC58A3DA-926E-40E6-A13F-76445D958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60155" y="4864232"/>
              <a:ext cx="5731967" cy="18572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1411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CB061-1D49-4C74-BEBA-3B86562F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b="1" dirty="0"/>
              <a:t>Struktur des Programms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C7CD06-4726-4047-B8B0-9CEF26E55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de-DE" altLang="de-DE" sz="6000" dirty="0"/>
              <a:t>Funktionen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de-DE" altLang="de-DE" sz="24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3800" b="1" dirty="0" err="1"/>
              <a:t>drive</a:t>
            </a:r>
            <a:r>
              <a:rPr lang="de-DE" altLang="de-DE" sz="3800" b="1" dirty="0"/>
              <a:t>(), </a:t>
            </a:r>
            <a:r>
              <a:rPr lang="de-DE" altLang="de-DE" sz="3800" b="1" dirty="0" err="1"/>
              <a:t>stop</a:t>
            </a:r>
            <a:r>
              <a:rPr lang="de-DE" altLang="de-DE" sz="3800" b="1" dirty="0"/>
              <a:t>() → Geschwindigkeit und Lenkwinkel setzen bzw. Fahrzeug stoppen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de-DE" sz="3800" i="1" dirty="0" err="1"/>
              <a:t>x.drive</a:t>
            </a:r>
            <a:r>
              <a:rPr lang="en-US" altLang="de-DE" sz="3800" i="1" dirty="0"/>
              <a:t>(30, x._</a:t>
            </a:r>
            <a:r>
              <a:rPr lang="en-US" altLang="de-DE" sz="3800" i="1" dirty="0" err="1"/>
              <a:t>frontwheels</a:t>
            </a:r>
            <a:r>
              <a:rPr lang="en-US" altLang="de-DE" sz="3800" i="1" dirty="0"/>
              <a:t>._</a:t>
            </a:r>
            <a:r>
              <a:rPr lang="en-US" altLang="de-DE" sz="3800" i="1" dirty="0" err="1"/>
              <a:t>straight_angle</a:t>
            </a:r>
            <a:r>
              <a:rPr lang="en-US" altLang="de-DE" sz="3800" i="1" dirty="0"/>
              <a:t>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3800" b="1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3800" b="1" dirty="0" err="1"/>
              <a:t>car_distance</a:t>
            </a:r>
            <a:r>
              <a:rPr lang="de-DE" altLang="de-DE" sz="3800" b="1" dirty="0"/>
              <a:t>() / </a:t>
            </a:r>
            <a:r>
              <a:rPr lang="de-DE" altLang="de-DE" sz="3800" b="1" dirty="0" err="1"/>
              <a:t>tc_dist</a:t>
            </a:r>
            <a:r>
              <a:rPr lang="de-DE" altLang="de-DE" sz="3800" b="1" dirty="0"/>
              <a:t>() → Ultraschall-Distanzmessung</a:t>
            </a:r>
            <a:br>
              <a:rPr lang="de-DE" altLang="de-DE" sz="3800" dirty="0"/>
            </a:br>
            <a:r>
              <a:rPr lang="de-DE" altLang="de-DE" sz="3800" i="1" dirty="0" err="1"/>
              <a:t>x.car_distance</a:t>
            </a:r>
            <a:r>
              <a:rPr lang="de-DE" altLang="de-DE" sz="3800" i="1" dirty="0"/>
              <a:t>()  # Ausgabe mehrerer Messwerte auf der Konsole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3800" i="1" dirty="0"/>
              <a:t>d = </a:t>
            </a:r>
            <a:r>
              <a:rPr lang="de-DE" altLang="de-DE" sz="3800" i="1" dirty="0" err="1"/>
              <a:t>x.tc_dist</a:t>
            </a:r>
            <a:r>
              <a:rPr lang="de-DE" altLang="de-DE" sz="3800" i="1" dirty="0"/>
              <a:t>()   # Aktuelle Distanz als Integer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3800" i="1" dirty="0" err="1"/>
              <a:t>if</a:t>
            </a:r>
            <a:r>
              <a:rPr lang="de-DE" altLang="de-DE" sz="3800" i="1" dirty="0"/>
              <a:t> d &lt; 10:        # Hindernis erkannt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3800" i="1" dirty="0"/>
              <a:t>    </a:t>
            </a:r>
            <a:r>
              <a:rPr lang="de-DE" altLang="de-DE" sz="3800" i="1" dirty="0" err="1"/>
              <a:t>x.stop</a:t>
            </a:r>
            <a:r>
              <a:rPr lang="de-DE" altLang="de-DE" sz="3800" i="1" dirty="0"/>
              <a:t>()      # Auto anhalten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38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3800" b="1" dirty="0"/>
              <a:t>analog() / digital() → IR-Sensorwerte abrufen</a:t>
            </a:r>
            <a:br>
              <a:rPr lang="de-DE" altLang="de-DE" sz="3800" dirty="0"/>
            </a:br>
            <a:r>
              <a:rPr lang="de-DE" altLang="de-DE" sz="3800" dirty="0"/>
              <a:t>_</a:t>
            </a:r>
            <a:r>
              <a:rPr lang="de-DE" altLang="de-DE" sz="3800" i="1" dirty="0" err="1"/>
              <a:t>index</a:t>
            </a:r>
            <a:r>
              <a:rPr lang="de-DE" altLang="de-DE" sz="3800" i="1" dirty="0"/>
              <a:t> = </a:t>
            </a:r>
            <a:r>
              <a:rPr lang="de-DE" altLang="de-DE" sz="3800" i="1" dirty="0" err="1"/>
              <a:t>x.analog</a:t>
            </a:r>
            <a:r>
              <a:rPr lang="de-DE" altLang="de-DE" sz="3800" i="1" dirty="0"/>
              <a:t>()  # Gibt den Index des minimalen IR-Werts zurück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3800" i="1" dirty="0"/>
              <a:t>f _</a:t>
            </a:r>
            <a:r>
              <a:rPr lang="de-DE" altLang="de-DE" sz="3800" i="1" dirty="0" err="1"/>
              <a:t>index</a:t>
            </a:r>
            <a:r>
              <a:rPr lang="de-DE" altLang="de-DE" sz="3800" i="1" dirty="0"/>
              <a:t> == 0: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3800" i="1" dirty="0"/>
              <a:t>   </a:t>
            </a:r>
            <a:r>
              <a:rPr lang="de-DE" altLang="de-DE" sz="3800" i="1" dirty="0" err="1"/>
              <a:t>x.drive</a:t>
            </a:r>
            <a:r>
              <a:rPr lang="de-DE" altLang="de-DE" sz="3800" i="1" dirty="0"/>
              <a:t>(30, x._</a:t>
            </a:r>
            <a:r>
              <a:rPr lang="de-DE" altLang="de-DE" sz="3800" i="1" dirty="0" err="1"/>
              <a:t>frontwheels</a:t>
            </a:r>
            <a:r>
              <a:rPr lang="de-DE" altLang="de-DE" sz="3800" i="1" dirty="0"/>
              <a:t>._</a:t>
            </a:r>
            <a:r>
              <a:rPr lang="de-DE" altLang="de-DE" sz="3800" i="1" dirty="0" err="1"/>
              <a:t>min_angle</a:t>
            </a:r>
            <a:r>
              <a:rPr lang="de-DE" altLang="de-DE" sz="3800" i="1" dirty="0"/>
              <a:t>)  # Lenkt das Auto entsprechend nach links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3800" i="1" dirty="0" err="1"/>
              <a:t>elif</a:t>
            </a:r>
            <a:r>
              <a:rPr lang="de-DE" altLang="de-DE" sz="3800" i="1" dirty="0"/>
              <a:t> _</a:t>
            </a:r>
            <a:r>
              <a:rPr lang="de-DE" altLang="de-DE" sz="3800" i="1" dirty="0" err="1"/>
              <a:t>index</a:t>
            </a:r>
            <a:r>
              <a:rPr lang="de-DE" altLang="de-DE" sz="3800" i="1" dirty="0"/>
              <a:t> == 4: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3800" i="1" dirty="0"/>
              <a:t>    </a:t>
            </a:r>
            <a:r>
              <a:rPr lang="de-DE" altLang="de-DE" sz="3800" i="1" dirty="0" err="1"/>
              <a:t>x.drive</a:t>
            </a:r>
            <a:r>
              <a:rPr lang="de-DE" altLang="de-DE" sz="3800" i="1" dirty="0"/>
              <a:t>(30, x._</a:t>
            </a:r>
            <a:r>
              <a:rPr lang="de-DE" altLang="de-DE" sz="3800" i="1" dirty="0" err="1"/>
              <a:t>frontwheels</a:t>
            </a:r>
            <a:r>
              <a:rPr lang="de-DE" altLang="de-DE" sz="3800" i="1" dirty="0"/>
              <a:t>._</a:t>
            </a:r>
            <a:r>
              <a:rPr lang="de-DE" altLang="de-DE" sz="3800" i="1" dirty="0" err="1"/>
              <a:t>max_angle</a:t>
            </a:r>
            <a:r>
              <a:rPr lang="de-DE" altLang="de-DE" sz="3800" i="1" dirty="0"/>
              <a:t>)  # Lenkt das Auto entsprechend nach rechts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38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3800" b="1" dirty="0" err="1"/>
              <a:t>run_mode</a:t>
            </a:r>
            <a:r>
              <a:rPr lang="de-DE" altLang="de-DE" sz="3800" b="1" dirty="0"/>
              <a:t>(</a:t>
            </a:r>
            <a:r>
              <a:rPr lang="de-DE" altLang="de-DE" sz="3800" b="1" dirty="0" err="1"/>
              <a:t>fmod</a:t>
            </a:r>
            <a:r>
              <a:rPr lang="de-DE" altLang="de-DE" sz="3800" b="1" dirty="0"/>
              <a:t>, x) → Auswahl und Ausführung der verschiedenen Fahrmodi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de-DE" sz="3800" i="1" dirty="0"/>
              <a:t>if </a:t>
            </a:r>
            <a:r>
              <a:rPr lang="en-US" altLang="de-DE" sz="3800" i="1" dirty="0" err="1"/>
              <a:t>fmod</a:t>
            </a:r>
            <a:r>
              <a:rPr lang="en-US" altLang="de-DE" sz="3800" i="1" dirty="0"/>
              <a:t> == 3: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de-DE" sz="3800" i="1" dirty="0"/>
              <a:t>    </a:t>
            </a:r>
            <a:r>
              <a:rPr lang="en-US" altLang="de-DE" sz="3800" i="1" dirty="0" err="1"/>
              <a:t>x.drive</a:t>
            </a:r>
            <a:r>
              <a:rPr lang="en-US" altLang="de-DE" sz="3800" i="1" dirty="0"/>
              <a:t>(45, x._</a:t>
            </a:r>
            <a:r>
              <a:rPr lang="en-US" altLang="de-DE" sz="3800" i="1" dirty="0" err="1"/>
              <a:t>frontwheels</a:t>
            </a:r>
            <a:r>
              <a:rPr lang="en-US" altLang="de-DE" sz="3800" i="1" dirty="0"/>
              <a:t>._</a:t>
            </a:r>
            <a:r>
              <a:rPr lang="en-US" altLang="de-DE" sz="3800" i="1" dirty="0" err="1"/>
              <a:t>straight_angle</a:t>
            </a:r>
            <a:r>
              <a:rPr lang="en-US" altLang="de-DE" sz="3800" i="1" dirty="0"/>
              <a:t>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de-DE" sz="3800" i="1" dirty="0"/>
              <a:t>    while True: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de-DE" sz="3800" i="1" dirty="0"/>
              <a:t>        d = </a:t>
            </a:r>
            <a:r>
              <a:rPr lang="en-US" altLang="de-DE" sz="3800" i="1" dirty="0" err="1"/>
              <a:t>x.tc_dist</a:t>
            </a:r>
            <a:r>
              <a:rPr lang="en-US" altLang="de-DE" sz="3800" i="1" dirty="0"/>
              <a:t>()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de-DE" sz="3800" i="1" dirty="0"/>
              <a:t>        if d &lt; 10: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de-DE" sz="3800" i="1" dirty="0"/>
              <a:t>            break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de-DE" sz="3800" i="1" dirty="0"/>
              <a:t>    </a:t>
            </a:r>
            <a:r>
              <a:rPr lang="en-US" altLang="de-DE" sz="3800" i="1" dirty="0" err="1"/>
              <a:t>x.stop</a:t>
            </a:r>
            <a:r>
              <a:rPr lang="en-US" altLang="de-DE" sz="3800" i="1" dirty="0"/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1505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50C1AA-52EE-4092-830E-39993846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Herausforderung im Fahrmodus 6 😩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49381E-A820-43D2-9C3C-CC1C79D34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400" b="1" dirty="0"/>
              <a:t>Problem:</a:t>
            </a:r>
            <a:br>
              <a:rPr lang="de-DE" dirty="0"/>
            </a:br>
            <a:r>
              <a:rPr lang="de-DE" sz="2000" dirty="0"/>
              <a:t>Hart kodierter IR-Referenzwert (Bsp.: </a:t>
            </a:r>
            <a:r>
              <a:rPr lang="de-DE" sz="2000" dirty="0" err="1"/>
              <a:t>ir_ref</a:t>
            </a:r>
            <a:r>
              <a:rPr lang="de-DE" sz="2000" dirty="0"/>
              <a:t> = 50) → Linienverfolgung unzuverlässig Sensorwerte schwanken je nach Lichtverhältnissen → Fahrzeug verliert die Linie</a:t>
            </a:r>
          </a:p>
          <a:p>
            <a:pPr marL="0" indent="0">
              <a:buNone/>
            </a:pPr>
            <a:r>
              <a:rPr lang="de-DE" sz="2400" b="1" dirty="0"/>
              <a:t>Lösung:</a:t>
            </a:r>
            <a:br>
              <a:rPr lang="de-DE" b="1" dirty="0"/>
            </a:br>
            <a:r>
              <a:rPr lang="de-DE" sz="2000" dirty="0"/>
              <a:t>Dynamische Berechnung des Referenzwerts in der Schleife:</a:t>
            </a:r>
            <a:br>
              <a:rPr lang="de-DE" sz="2000" dirty="0"/>
            </a:br>
            <a:r>
              <a:rPr lang="de-DE" sz="2000" i="1" dirty="0" err="1"/>
              <a:t>ir_ref</a:t>
            </a:r>
            <a:r>
              <a:rPr lang="de-DE" sz="2000" i="1" dirty="0"/>
              <a:t> = (</a:t>
            </a:r>
            <a:r>
              <a:rPr lang="de-DE" sz="2000" i="1" dirty="0" err="1"/>
              <a:t>np.mean</a:t>
            </a:r>
            <a:r>
              <a:rPr lang="de-DE" sz="2000" i="1" dirty="0"/>
              <a:t>(</a:t>
            </a:r>
            <a:r>
              <a:rPr lang="de-DE" sz="2000" i="1" dirty="0" err="1"/>
              <a:t>x.infra_ref.read_analog</a:t>
            </a:r>
            <a:r>
              <a:rPr lang="de-DE" sz="2000" i="1" dirty="0"/>
              <a:t>())) * 0.85</a:t>
            </a:r>
            <a:br>
              <a:rPr lang="de-DE" sz="2000" i="1" dirty="0"/>
            </a:br>
            <a:r>
              <a:rPr lang="de-DE" sz="2000" dirty="0"/>
              <a:t>Mittelwert der IR-Sensoren passt sich der aktuellen </a:t>
            </a:r>
            <a:br>
              <a:rPr lang="de-DE" sz="2000" dirty="0"/>
            </a:br>
            <a:r>
              <a:rPr lang="de-DE" sz="2000" dirty="0"/>
              <a:t>Umgebung an</a:t>
            </a:r>
            <a:br>
              <a:rPr lang="de-DE" sz="2000" dirty="0"/>
            </a:br>
            <a:r>
              <a:rPr lang="de-DE" sz="2000" dirty="0"/>
              <a:t>Faktor 0.85 sorgt für zuverlässige Linienerkennung</a:t>
            </a:r>
          </a:p>
          <a:p>
            <a:pPr marL="0" indent="0">
              <a:buNone/>
            </a:pPr>
            <a:r>
              <a:rPr lang="de-DE" sz="2400" b="1" dirty="0"/>
              <a:t>Ergebnis:</a:t>
            </a:r>
            <a:br>
              <a:rPr lang="de-DE" sz="1400" b="1" dirty="0"/>
            </a:br>
            <a:r>
              <a:rPr lang="de-DE" sz="2000" dirty="0"/>
              <a:t>Fahrmodus 6 reagiert adaptiv → stabile Linienverfolgung</a:t>
            </a:r>
          </a:p>
          <a:p>
            <a:pPr marL="0" indent="0">
              <a:buNone/>
            </a:pPr>
            <a:endParaRPr lang="de-DE" sz="2000" i="1" dirty="0"/>
          </a:p>
          <a:p>
            <a:pPr marL="0" indent="0">
              <a:buNone/>
            </a:pPr>
            <a:endParaRPr lang="de-DE" sz="2000" dirty="0"/>
          </a:p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5C75C48-CF28-44A8-81A7-FE6FF81B3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233" y="2837468"/>
            <a:ext cx="4389458" cy="322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83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50C1AA-52EE-4092-830E-39993846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Dash - App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CD54A66B-5861-4E62-92D8-EA3699FA0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/>
          <a:stretch/>
        </p:blipFill>
        <p:spPr>
          <a:xfrm>
            <a:off x="838200" y="1191201"/>
            <a:ext cx="10515600" cy="4880410"/>
          </a:xfrm>
        </p:spPr>
      </p:pic>
    </p:spTree>
    <p:extLst>
      <p:ext uri="{BB962C8B-B14F-4D97-AF65-F5344CB8AC3E}">
        <p14:creationId xmlns:p14="http://schemas.microsoft.com/office/powerpoint/2010/main" val="777984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B365B8-F67F-4F1D-B775-2A35D16A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Dokumentation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57C467-8514-4B19-8D1F-BFAF79B23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B6156AF-4D6B-4EB9-BED4-2936E7B83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57" y="1057016"/>
            <a:ext cx="6529571" cy="351369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841BA19-5955-4FD9-B8CA-E23076FD0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368" y="3190555"/>
            <a:ext cx="4715432" cy="3288058"/>
          </a:xfrm>
          <a:prstGeom prst="rect">
            <a:avLst/>
          </a:prstGeom>
        </p:spPr>
      </p:pic>
      <p:sp>
        <p:nvSpPr>
          <p:cNvPr id="8" name="Pfeil: nach unten gekrümmt 7">
            <a:extLst>
              <a:ext uri="{FF2B5EF4-FFF2-40B4-BE49-F238E27FC236}">
                <a16:creationId xmlns:a16="http://schemas.microsoft.com/office/drawing/2014/main" id="{B3E21ED4-16A9-4AE1-B355-15D1B360F0DF}"/>
              </a:ext>
            </a:extLst>
          </p:cNvPr>
          <p:cNvSpPr/>
          <p:nvPr/>
        </p:nvSpPr>
        <p:spPr>
          <a:xfrm rot="2510109">
            <a:off x="6542203" y="1401217"/>
            <a:ext cx="3101418" cy="120445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338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BDBF14-7749-4CAD-9C11-8F4C38505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Der Monaco-Parcours der autonomen Fahrzeuge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DA1D47F-9E3B-497E-B0F3-870D6BAAD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716" y="1085850"/>
            <a:ext cx="4658567" cy="5091113"/>
          </a:xfrm>
        </p:spPr>
      </p:pic>
    </p:spTree>
    <p:extLst>
      <p:ext uri="{BB962C8B-B14F-4D97-AF65-F5344CB8AC3E}">
        <p14:creationId xmlns:p14="http://schemas.microsoft.com/office/powerpoint/2010/main" val="2073833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A90A1D-AAE2-4134-A864-1ED867F6C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841"/>
            <a:ext cx="10515600" cy="509186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DE" sz="11500" b="1" dirty="0"/>
              <a:t>Live Demo</a:t>
            </a:r>
          </a:p>
          <a:p>
            <a:pPr marL="0" indent="0" algn="ctr">
              <a:buNone/>
            </a:pPr>
            <a:r>
              <a:rPr lang="de-DE" sz="7200" dirty="0"/>
              <a:t>🔥🏎️💨</a:t>
            </a:r>
            <a:endParaRPr lang="de-DE" sz="11500" b="1" dirty="0"/>
          </a:p>
          <a:p>
            <a:pPr marL="0" indent="0" algn="ctr">
              <a:buNone/>
            </a:pPr>
            <a:endParaRPr lang="de-DE" sz="11500" b="1" dirty="0"/>
          </a:p>
        </p:txBody>
      </p:sp>
    </p:spTree>
    <p:extLst>
      <p:ext uri="{BB962C8B-B14F-4D97-AF65-F5344CB8AC3E}">
        <p14:creationId xmlns:p14="http://schemas.microsoft.com/office/powerpoint/2010/main" val="374772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A90A1D-AAE2-4134-A864-1ED867F6C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0897"/>
            <a:ext cx="10515600" cy="509186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DE" sz="11500" b="1" dirty="0"/>
              <a:t>Vielen Dank</a:t>
            </a:r>
          </a:p>
          <a:p>
            <a:pPr marL="0" indent="0" algn="ctr">
              <a:buNone/>
            </a:pPr>
            <a:r>
              <a:rPr lang="de-DE" sz="11500" b="1" dirty="0"/>
              <a:t>Fragen???</a:t>
            </a:r>
          </a:p>
          <a:p>
            <a:pPr marL="0" indent="0" algn="ctr">
              <a:buNone/>
            </a:pPr>
            <a:endParaRPr lang="de-DE" sz="11500" b="1" dirty="0"/>
          </a:p>
          <a:p>
            <a:pPr marL="0" indent="0" algn="ctr">
              <a:buNone/>
            </a:pPr>
            <a:endParaRPr lang="de-DE" sz="11500" b="1" dirty="0"/>
          </a:p>
        </p:txBody>
      </p:sp>
    </p:spTree>
    <p:extLst>
      <p:ext uri="{BB962C8B-B14F-4D97-AF65-F5344CB8AC3E}">
        <p14:creationId xmlns:p14="http://schemas.microsoft.com/office/powerpoint/2010/main" val="2630630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Microsoft Office PowerPoint</Application>
  <PresentationFormat>Breitbild</PresentationFormat>
  <Paragraphs>56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Camp2Code – Projektphase 1 </vt:lpstr>
      <vt:lpstr>Ziel des Projekts</vt:lpstr>
      <vt:lpstr>Struktur des Programms</vt:lpstr>
      <vt:lpstr>Struktur des Programms</vt:lpstr>
      <vt:lpstr>Struktur des Programms</vt:lpstr>
      <vt:lpstr>Herausforderung im Fahrmodus 6 😩</vt:lpstr>
      <vt:lpstr>Dash - App</vt:lpstr>
      <vt:lpstr>Dokumentation</vt:lpstr>
      <vt:lpstr>Der Monaco-Parcours der autonomen Fahrzeuge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Infographic</dc:title>
  <dc:creator>Iryna Siletska</dc:creator>
  <cp:lastModifiedBy>Valentina Palpanes</cp:lastModifiedBy>
  <cp:revision>279</cp:revision>
  <dcterms:created xsi:type="dcterms:W3CDTF">2021-03-15T16:54:13Z</dcterms:created>
  <dcterms:modified xsi:type="dcterms:W3CDTF">2025-11-21T10:06:22Z</dcterms:modified>
</cp:coreProperties>
</file>